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78" r:id="rId10"/>
    <p:sldId id="268" r:id="rId11"/>
    <p:sldId id="276" r:id="rId12"/>
    <p:sldId id="279" r:id="rId13"/>
    <p:sldId id="269" r:id="rId14"/>
    <p:sldId id="270" r:id="rId15"/>
    <p:sldId id="271" r:id="rId16"/>
    <p:sldId id="277" r:id="rId17"/>
    <p:sldId id="280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ato Light" panose="020F0502020204030203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SemiBold" panose="000007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0B39F9-A308-4DE2-8DBC-D990F63078FE}">
  <a:tblStyle styleId="{5A0B39F9-A308-4DE2-8DBC-D990F63078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4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https://blog.acolyer.org/2018/10/26/robinhood-tail-latency-aware-caching-dynamic-reallocation-from-cache-rich-to-cache-poor/</a:t>
            </a:r>
            <a:endParaRPr dirty="0"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52F47BAD-7FCD-DFCE-6D0C-77082B2E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>
            <a:extLst>
              <a:ext uri="{FF2B5EF4-FFF2-40B4-BE49-F238E27FC236}">
                <a16:creationId xmlns:a16="http://schemas.microsoft.com/office/drawing/2014/main" id="{6AE0C6E8-466E-8C77-DDBF-118498AF2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>
            <a:extLst>
              <a:ext uri="{FF2B5EF4-FFF2-40B4-BE49-F238E27FC236}">
                <a16:creationId xmlns:a16="http://schemas.microsoft.com/office/drawing/2014/main" id="{D0419BCE-2898-1238-6F69-6A1A3F132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86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BD015C79-AAE7-1DE8-8D26-C0A838161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>
            <a:extLst>
              <a:ext uri="{FF2B5EF4-FFF2-40B4-BE49-F238E27FC236}">
                <a16:creationId xmlns:a16="http://schemas.microsoft.com/office/drawing/2014/main" id="{C7E39B08-8A79-0EA5-C215-0A244DE23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>
            <a:extLst>
              <a:ext uri="{FF2B5EF4-FFF2-40B4-BE49-F238E27FC236}">
                <a16:creationId xmlns:a16="http://schemas.microsoft.com/office/drawing/2014/main" id="{46D7ED4B-8623-782B-71A6-1E8D2223F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01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vector-graphics-of-cup-of-espresso-coffee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ademy.hsoub.com/devops/servers/databases/redis/%D9%83%D9%8A%D9%81%D9%8A%D8%A9-%D8%AA%D9%86%D8%B5%D9%8A%D8%A8-%D9%88%D8%A7%D8%B3%D8%AA%D8%AE%D8%AF%D8%A7%D9%85-redis-%D8%B9%D9%84%D9%89-%D8%A3%D9%88%D8%A8%D9%86%D8%AA%D9%88-r46/" TargetMode="External"/><Relationship Id="rId5" Type="http://schemas.microsoft.com/office/2007/relationships/hdphoto" Target="../media/hdphoto1.wdp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25554" y="2321004"/>
            <a:ext cx="714089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Caching</a:t>
            </a:r>
            <a:endParaRPr sz="20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695575" y="3543579"/>
            <a:ext cx="68008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ko-KR" sz="1500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OPTIMIZING PERFORMANCE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95575" y="4134716"/>
            <a:ext cx="6800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Sergei, Jungwoo</a:t>
            </a:r>
            <a:endParaRPr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2266950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Part 1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524500" y="3457575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971925"/>
            <a:ext cx="110490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Lato Light"/>
                <a:ea typeface="Lato Light"/>
                <a:cs typeface="Lato Light"/>
                <a:sym typeface="Lato Light"/>
              </a:rPr>
              <a:t>Core Concepts &amp; Foundations of Caching</a:t>
            </a:r>
            <a:endParaRPr sz="25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9573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198596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Cost of Distance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00125" y="2538412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L1/L2 Cache: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Hardware level, sub-nanosecond access.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3033712"/>
            <a:ext cx="48101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Main Memory (RAM):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Primary application workspace (~100ns).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3814762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File System/Disk: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Persistent storage, high latency (</a:t>
            </a:r>
            <a:r>
              <a:rPr lang="en-US" sz="15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ms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000125" y="4310062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Network/DB: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The ultimate bottleneck in modern apps.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76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718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481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 the Hierarchy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2BEE6F-96F2-0D69-513A-F2B75CB52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7387"/>
            <a:ext cx="5653986" cy="392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975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66975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66975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14400" y="352425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Latency Reduction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14400" y="4114800"/>
            <a:ext cx="28067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Eliminating round-trips to slow data sources for near-instant responses.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692699" y="352425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Throughput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92699" y="4114800"/>
            <a:ext cx="28067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Allowing systems to handle 10x higher load by serving from memory.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470999" y="352425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Consistency Risk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70999" y="4114800"/>
            <a:ext cx="28067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The primary trade-off: Dealing with stale data and invalidation logic.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479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84797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84797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Economics of Speed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1262062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Long Tail Rule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2547937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Most traffic volume comes from a small set of "Head" items. Caching is designed to capture this niche to maximize performance.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908282"/>
            <a:ext cx="4524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80/20 Pareto Principle: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80% of requests hit 20% of the dataset.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982877"/>
            <a:ext cx="4524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Caching the "Head" reduces origin server load by orders of magnitude.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3815FF-BAE0-E596-782A-4D76E5F9C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2126240"/>
            <a:ext cx="6898964" cy="373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516F6-D3A9-5A20-EDA4-4239C92BC25B}"/>
              </a:ext>
            </a:extLst>
          </p:cNvPr>
          <p:cNvSpPr txBox="1"/>
          <p:nvPr/>
        </p:nvSpPr>
        <p:spPr>
          <a:xfrm>
            <a:off x="5095875" y="3650240"/>
            <a:ext cx="14023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/>
              <a:t>Frequency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CF0F9-E0BC-81D9-6D3C-311BBE58A34C}"/>
              </a:ext>
            </a:extLst>
          </p:cNvPr>
          <p:cNvSpPr txBox="1"/>
          <p:nvPr/>
        </p:nvSpPr>
        <p:spPr>
          <a:xfrm>
            <a:off x="7762875" y="5354322"/>
            <a:ext cx="14023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/>
              <a:t>Item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295275" y="2266950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Part 2</a:t>
            </a:r>
          </a:p>
        </p:txBody>
      </p:sp>
      <p:sp>
        <p:nvSpPr>
          <p:cNvPr id="203" name="Google Shape;203;p22"/>
          <p:cNvSpPr/>
          <p:nvPr/>
        </p:nvSpPr>
        <p:spPr>
          <a:xfrm>
            <a:off x="5524500" y="3457575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971925"/>
            <a:ext cx="1104900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 Light"/>
                <a:ea typeface="Lato Light"/>
                <a:cs typeface="Lato Light"/>
                <a:sym typeface="Lato Light"/>
              </a:rPr>
              <a:t>Application-Level Java Caching</a:t>
            </a:r>
            <a:endParaRPr sz="25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98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2967037"/>
            <a:ext cx="55006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Local cache (Caffeine, </a:t>
            </a:r>
            <a:r>
              <a:rPr lang="en-US" sz="2100" b="1" dirty="0" err="1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Ehcache</a:t>
            </a:r>
            <a:r>
              <a:rPr lang="en-US" sz="2100" b="1" dirty="0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211" name="Google Shape;211;p23"/>
          <p:cNvSpPr txBox="1"/>
          <p:nvPr/>
        </p:nvSpPr>
        <p:spPr>
          <a:xfrm>
            <a:off x="6381750" y="2967037"/>
            <a:ext cx="55006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Distributed</a:t>
            </a:r>
            <a:r>
              <a:rPr lang="en-US" sz="21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cache (Redis, </a:t>
            </a:r>
            <a:r>
              <a:rPr lang="en-US" sz="2100" b="1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Hazelcast</a:t>
            </a:r>
            <a:r>
              <a:rPr lang="en-US" sz="21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212" name="Google Shape;212;p23"/>
          <p:cNvSpPr txBox="1"/>
          <p:nvPr/>
        </p:nvSpPr>
        <p:spPr>
          <a:xfrm>
            <a:off x="957263" y="3519487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Ultra-fast RAM access.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1000125" y="4014787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Within the same JVM.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1000125" y="4510087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No network latency.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6810375" y="3519487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Shared across all server nodes.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6810375" y="4014787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Persistence and large datasets.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6810375" y="4510087"/>
            <a:ext cx="48101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Consistency across instances.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575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28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8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5575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0528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5481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Local vs. Distributed </a:t>
            </a:r>
            <a:r>
              <a:rPr lang="en-US" sz="3300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Caching</a:t>
            </a:r>
            <a:endParaRPr dirty="0"/>
          </a:p>
        </p:txBody>
      </p:sp>
      <p:sp>
        <p:nvSpPr>
          <p:cNvPr id="225" name="Google Shape;225;p2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14F06-6FA1-25C9-C7C7-427D3C49B279}"/>
              </a:ext>
            </a:extLst>
          </p:cNvPr>
          <p:cNvSpPr txBox="1"/>
          <p:nvPr/>
        </p:nvSpPr>
        <p:spPr>
          <a:xfrm>
            <a:off x="614361" y="5883442"/>
            <a:ext cx="110061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38BDF8"/>
                </a:solidFill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Rule of thumb:  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Start with a local cache. Add Redis only when you have multiple nodes or need persistence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975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66975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66975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914400" y="352425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LRU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914400" y="4114800"/>
            <a:ext cx="28067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Least Recently Used: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evicts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data not accessed for the longest time.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4692699" y="352425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LFU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4692699" y="4114800"/>
            <a:ext cx="280674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Least Frequently Used: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evicts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data with the fewest accesses.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8470999" y="3524250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W-TinyLFU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8470999" y="4114800"/>
            <a:ext cx="28067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Caffeine’s Default: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ombines recency (</a:t>
            </a:r>
            <a:r>
              <a:rPr lang="en-US" sz="15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5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RU) and frequency (LFU) for near-optimal hits.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40" name="Google Shape;24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479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84797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847975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Eviction Strategy Framework</a:t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6EF00DD5-3A65-90CC-4811-4A572C58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 descr="image.png">
            <a:extLst>
              <a:ext uri="{FF2B5EF4-FFF2-40B4-BE49-F238E27FC236}">
                <a16:creationId xmlns:a16="http://schemas.microsoft.com/office/drawing/2014/main" id="{D0F0FBB2-A4CE-328B-66B6-964AA99C0A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>
            <a:extLst>
              <a:ext uri="{FF2B5EF4-FFF2-40B4-BE49-F238E27FC236}">
                <a16:creationId xmlns:a16="http://schemas.microsoft.com/office/drawing/2014/main" id="{F966E467-0E72-37C7-89EC-FDE361130077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300" b="0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oppins SemiBold"/>
                <a:ea typeface="Poppins SemiBold"/>
                <a:cs typeface="Poppins SemiBold"/>
                <a:sym typeface="Poppins SemiBold"/>
              </a:rPr>
              <a:t>DEMO 1: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7" name="Google Shape;287;p28">
            <a:extLst>
              <a:ext uri="{FF2B5EF4-FFF2-40B4-BE49-F238E27FC236}">
                <a16:creationId xmlns:a16="http://schemas.microsoft.com/office/drawing/2014/main" id="{2D1804CA-CE9A-0262-B638-E941FC0329FB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B4B39B-3B60-17A3-9E92-A19E3208A80D}"/>
              </a:ext>
            </a:extLst>
          </p:cNvPr>
          <p:cNvSpPr/>
          <p:nvPr/>
        </p:nvSpPr>
        <p:spPr>
          <a:xfrm>
            <a:off x="531668" y="1544782"/>
            <a:ext cx="11128664" cy="47417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88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79996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Manual LRU with LinkedHashMap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LinkedHashMap Internals Diagram">
            <a:extLst>
              <a:ext uri="{FF2B5EF4-FFF2-40B4-BE49-F238E27FC236}">
                <a16:creationId xmlns:a16="http://schemas.microsoft.com/office/drawing/2014/main" id="{29854023-2223-CC82-A421-460C48355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4" y="1545664"/>
            <a:ext cx="5753102" cy="488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nkedHashMap Internals Diagram">
            <a:extLst>
              <a:ext uri="{FF2B5EF4-FFF2-40B4-BE49-F238E27FC236}">
                <a16:creationId xmlns:a16="http://schemas.microsoft.com/office/drawing/2014/main" id="{57B0D12B-B195-CFB8-3FC4-456C881ED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15648" y="51954"/>
            <a:ext cx="7960703" cy="675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04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08409-EDB1-4B20-C3FD-1250BAE2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300" dirty="0">
                <a:solidFill>
                  <a:srgbClr val="38BDF8"/>
                </a:solidFill>
                <a:latin typeface="Poppins SemiBold"/>
                <a:cs typeface="Poppins SemiBold"/>
                <a:sym typeface="Arial"/>
              </a:rPr>
              <a:t>Limitations of Manual LRU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EA1F1E-AC04-C1B6-4398-D113CD9B8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89683"/>
            <a:ext cx="10096792" cy="2678634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Arial"/>
              </a:rPr>
              <a:t>✅ Good for learning, small caches (up to thousands of entries)</a:t>
            </a:r>
          </a:p>
          <a:p>
            <a:pPr marL="114300" indent="0">
              <a:buClr>
                <a:schemeClr val="bg1"/>
              </a:buClr>
              <a:buNone/>
            </a:pPr>
            <a:endParaRPr lang="en-US" sz="20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  <a:sym typeface="Arial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Arial"/>
              </a:rPr>
              <a:t>❌ Not thread‑safe – will break in concurrent applications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Arial"/>
              </a:rPr>
              <a:t>❌ No time‑based expiration (TTL)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Arial"/>
              </a:rPr>
              <a:t>❌ No statistics (hit rate, eviction count)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Arial"/>
              </a:rPr>
              <a:t>❌ No protection against cache stampede (many threads loading same missing key)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Arial"/>
              </a:rPr>
              <a:t>❌ Manual memory management </a:t>
            </a:r>
          </a:p>
          <a:p>
            <a:pPr>
              <a:buClr>
                <a:schemeClr val="bg1"/>
              </a:buClr>
              <a:buSzPct val="84000"/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bg1">
                  <a:lumMod val="85000"/>
                </a:schemeClr>
              </a:solidFill>
              <a:latin typeface="Leto"/>
            </a:endParaRPr>
          </a:p>
        </p:txBody>
      </p:sp>
    </p:spTree>
    <p:extLst>
      <p:ext uri="{BB962C8B-B14F-4D97-AF65-F5344CB8AC3E}">
        <p14:creationId xmlns:p14="http://schemas.microsoft.com/office/powerpoint/2010/main" val="3016600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571500" y="1171575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Production Standard: Caffeine</a:t>
            </a:r>
            <a:endParaRPr dirty="0"/>
          </a:p>
        </p:txBody>
      </p:sp>
      <p:sp>
        <p:nvSpPr>
          <p:cNvPr id="260" name="Google Shape;260;p26"/>
          <p:cNvSpPr txBox="1"/>
          <p:nvPr/>
        </p:nvSpPr>
        <p:spPr>
          <a:xfrm>
            <a:off x="571500" y="2409825"/>
            <a:ext cx="495300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Lato"/>
              </a:rPr>
              <a:t>Caffeine is the go-to in-memory cache for high-scale Java systems (Spring Boot, Netflix, Uber).</a:t>
            </a:r>
            <a:endParaRPr sz="17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61" name="Google Shape;26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-6177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571500" y="3422823"/>
            <a:ext cx="5356976" cy="327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/>
            <a:r>
              <a:rPr lang="en-US" sz="1700" b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Key features:</a:t>
            </a:r>
          </a:p>
          <a:p>
            <a:pPr marL="285750" lvl="1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Thread‑safe (lock‑free reads)</a:t>
            </a:r>
          </a:p>
          <a:p>
            <a:pPr marL="285750" lvl="1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W‑</a:t>
            </a:r>
            <a:r>
              <a:rPr lang="en-US" sz="1700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TinyLFU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 eviction (higher hit rate than LRU/LFU)</a:t>
            </a:r>
          </a:p>
          <a:p>
            <a:pPr marL="285750" lvl="1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Time‑based expiration (</a:t>
            </a:r>
            <a:r>
              <a:rPr lang="en-US" sz="1700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expireAfterWrite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, </a:t>
            </a:r>
            <a:r>
              <a:rPr lang="en-US" sz="1700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expireAfterAccess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)</a:t>
            </a:r>
          </a:p>
          <a:p>
            <a:pPr marL="285750" lvl="1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Statistics (</a:t>
            </a:r>
            <a:r>
              <a:rPr lang="en-US" sz="1700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recordStats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())</a:t>
            </a:r>
          </a:p>
          <a:p>
            <a:pPr marL="285750" lvl="1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Atomic get(key, loader) – prevents stampede</a:t>
            </a:r>
          </a:p>
          <a:p>
            <a:pPr lvl="1">
              <a:buClr>
                <a:srgbClr val="00B0F0"/>
              </a:buClr>
            </a:pPr>
            <a:endParaRPr lang="en-US" sz="17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1700" b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Benchmark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: Caffeine is significantly faster than </a:t>
            </a:r>
            <a:r>
              <a:rPr lang="en-US" sz="1700" i="1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ConcurrentHashMap</a:t>
            </a:r>
            <a:r>
              <a:rPr lang="en-US" sz="1700" i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‑based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 caches for read‑heavy workloads.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52925"/>
            <a:ext cx="538162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352925"/>
            <a:ext cx="5381625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727364" y="1844054"/>
            <a:ext cx="3448050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 i="0" u="none" strike="noStrike" cap="none" dirty="0">
                <a:solidFill>
                  <a:srgbClr val="38BDF8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100</a:t>
            </a:r>
            <a:r>
              <a:rPr lang="en-US" sz="8800" b="1" i="0" u="none" strike="noStrike" cap="none" dirty="0">
                <a:solidFill>
                  <a:srgbClr val="38BDF8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x</a:t>
            </a: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914400" y="4695825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Problem</a:t>
            </a:r>
            <a:endParaRPr dirty="0"/>
          </a:p>
        </p:txBody>
      </p:sp>
      <p:sp>
        <p:nvSpPr>
          <p:cNvPr id="276" name="Google Shape;276;p27"/>
          <p:cNvSpPr txBox="1"/>
          <p:nvPr/>
        </p:nvSpPr>
        <p:spPr>
          <a:xfrm>
            <a:off x="914399" y="5286375"/>
            <a:ext cx="50387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A popular cache entry expires (or is missing). Hundreds of concurrent threads all miss at the same time.</a:t>
            </a:r>
            <a:endParaRPr sz="16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6581775" y="4695825"/>
            <a:ext cx="493061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Result</a:t>
            </a:r>
            <a:endParaRPr dirty="0"/>
          </a:p>
        </p:txBody>
      </p:sp>
      <p:sp>
        <p:nvSpPr>
          <p:cNvPr id="278" name="Google Shape;278;p27"/>
          <p:cNvSpPr txBox="1"/>
          <p:nvPr/>
        </p:nvSpPr>
        <p:spPr>
          <a:xfrm>
            <a:off x="6581775" y="5286375"/>
            <a:ext cx="50387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All 100 threads hit the database / slow origin → overload, degraded performance, even cascading failure.</a:t>
            </a:r>
            <a:endParaRPr sz="16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Cache Stampede Crisis</a:t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AA16F9-F93D-164B-F614-FA1727D38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3012" y="1682696"/>
            <a:ext cx="1993455" cy="199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6F71F0-B78D-016B-8FF8-9CF5D42BF152}"/>
              </a:ext>
            </a:extLst>
          </p:cNvPr>
          <p:cNvSpPr txBox="1"/>
          <p:nvPr/>
        </p:nvSpPr>
        <p:spPr>
          <a:xfrm>
            <a:off x="5375497" y="1716375"/>
            <a:ext cx="1993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 1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 2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 3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…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 100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  <a:latin typeface="Lato"/>
              <a:ea typeface="Lato"/>
              <a:cs typeface="Lato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556B511-43E2-50CD-A170-61CC65D08492}"/>
              </a:ext>
            </a:extLst>
          </p:cNvPr>
          <p:cNvCxnSpPr>
            <a:cxnSpLocks/>
          </p:cNvCxnSpPr>
          <p:nvPr/>
        </p:nvCxnSpPr>
        <p:spPr>
          <a:xfrm>
            <a:off x="6250242" y="1884088"/>
            <a:ext cx="2293465" cy="182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B1DDCCB-72D1-5E84-F65E-F45E9D49044A}"/>
              </a:ext>
            </a:extLst>
          </p:cNvPr>
          <p:cNvCxnSpPr>
            <a:cxnSpLocks/>
          </p:cNvCxnSpPr>
          <p:nvPr/>
        </p:nvCxnSpPr>
        <p:spPr>
          <a:xfrm>
            <a:off x="6250242" y="2333510"/>
            <a:ext cx="2293465" cy="16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89C496D-7053-33AE-B363-3C5E6C040BE3}"/>
              </a:ext>
            </a:extLst>
          </p:cNvPr>
          <p:cNvCxnSpPr>
            <a:cxnSpLocks/>
          </p:cNvCxnSpPr>
          <p:nvPr/>
        </p:nvCxnSpPr>
        <p:spPr>
          <a:xfrm>
            <a:off x="6250242" y="2776499"/>
            <a:ext cx="2318793" cy="126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22DED95-60DA-EC10-2EF4-4502A3D2D345}"/>
              </a:ext>
            </a:extLst>
          </p:cNvPr>
          <p:cNvCxnSpPr/>
          <p:nvPr/>
        </p:nvCxnSpPr>
        <p:spPr>
          <a:xfrm flipV="1">
            <a:off x="6470602" y="3429000"/>
            <a:ext cx="2163847" cy="7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94F2499-1CCA-ADE0-4C2A-F0D0652F530A}"/>
              </a:ext>
            </a:extLst>
          </p:cNvPr>
          <p:cNvCxnSpPr/>
          <p:nvPr/>
        </p:nvCxnSpPr>
        <p:spPr>
          <a:xfrm>
            <a:off x="5716745" y="3106168"/>
            <a:ext cx="2826962" cy="6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8BDF8"/>
                </a:solidFill>
                <a:latin typeface="Poppins SemiBold"/>
                <a:ea typeface="Lato" panose="020F0502020204030203" pitchFamily="34" charset="0"/>
                <a:cs typeface="Poppins SemiBold"/>
                <a:sym typeface="Poppins SemiBold"/>
              </a:rPr>
              <a:t>Solution: Atomic Get-or-Load</a:t>
            </a:r>
            <a:endParaRPr dirty="0"/>
          </a:p>
        </p:txBody>
      </p:sp>
      <p:sp>
        <p:nvSpPr>
          <p:cNvPr id="287" name="Google Shape;287;p28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31529-6024-1E67-D42C-96E70E551F55}"/>
              </a:ext>
            </a:extLst>
          </p:cNvPr>
          <p:cNvSpPr txBox="1"/>
          <p:nvPr/>
        </p:nvSpPr>
        <p:spPr>
          <a:xfrm>
            <a:off x="571500" y="1381125"/>
            <a:ext cx="7122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Caffeine’s </a:t>
            </a:r>
            <a:r>
              <a:rPr lang="en-US" sz="2000" b="1" i="1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cache.get</a:t>
            </a:r>
            <a:r>
              <a:rPr lang="en-US" sz="2000" b="1" i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(k, k -&gt; </a:t>
            </a:r>
            <a:r>
              <a:rPr lang="en-US" sz="2000" b="1" i="1" dirty="0" err="1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loadFromDB</a:t>
            </a:r>
            <a:r>
              <a:rPr lang="en-US" sz="2000" b="1" i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(k))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is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  <a:sym typeface="Calibri"/>
              </a:rPr>
              <a:t>atomic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86A32-04FD-3FFE-5F09-D3B242721F9F}"/>
              </a:ext>
            </a:extLst>
          </p:cNvPr>
          <p:cNvSpPr txBox="1"/>
          <p:nvPr/>
        </p:nvSpPr>
        <p:spPr>
          <a:xfrm>
            <a:off x="571500" y="2217591"/>
            <a:ext cx="96733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How it works:</a:t>
            </a:r>
          </a:p>
          <a:p>
            <a:endParaRPr lang="en-US" sz="20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buClr>
                <a:srgbClr val="00B0F0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 A checks cache → miss → starts loading (computes value)</a:t>
            </a:r>
          </a:p>
          <a:p>
            <a:pPr marL="457200" lvl="1" indent="-457200">
              <a:buClr>
                <a:srgbClr val="00B0F0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Threads B, C, D … also call get for same missing key</a:t>
            </a:r>
          </a:p>
          <a:p>
            <a:pPr marL="457200" lvl="1" indent="-457200">
              <a:buClr>
                <a:srgbClr val="00B0F0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Caffeine makes them wait for Thread A’s result</a:t>
            </a:r>
          </a:p>
          <a:p>
            <a:pPr marL="457200" lvl="1" indent="-457200">
              <a:buClr>
                <a:srgbClr val="00B0F0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After Thread A stores the value, all waiting threads receive it instantly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98C0B-8BB9-A959-3A71-E512851C42BA}"/>
              </a:ext>
            </a:extLst>
          </p:cNvPr>
          <p:cNvSpPr txBox="1"/>
          <p:nvPr/>
        </p:nvSpPr>
        <p:spPr>
          <a:xfrm>
            <a:off x="571500" y="4592939"/>
            <a:ext cx="5661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Result: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Only one database call – not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63DFF-42A9-5B98-EF0E-983AA1174183}"/>
              </a:ext>
            </a:extLst>
          </p:cNvPr>
          <p:cNvSpPr txBox="1"/>
          <p:nvPr/>
        </p:nvSpPr>
        <p:spPr>
          <a:xfrm>
            <a:off x="5639963" y="297354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515080-F7E6-4080-5C7E-D74B3167826A}"/>
              </a:ext>
            </a:extLst>
          </p:cNvPr>
          <p:cNvSpPr txBox="1"/>
          <p:nvPr/>
        </p:nvSpPr>
        <p:spPr>
          <a:xfrm>
            <a:off x="571500" y="5429405"/>
            <a:ext cx="62481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No manual locking: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Lato"/>
                <a:ea typeface="Lato"/>
                <a:cs typeface="Lato"/>
              </a:rPr>
              <a:t>Caffeine handles it internally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65AC76B7-0BA9-6C5D-8E67-F0B8BFA0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 descr="image.png">
            <a:extLst>
              <a:ext uri="{FF2B5EF4-FFF2-40B4-BE49-F238E27FC236}">
                <a16:creationId xmlns:a16="http://schemas.microsoft.com/office/drawing/2014/main" id="{CCF19BD6-8554-4519-9FCA-D72BBF5899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>
            <a:extLst>
              <a:ext uri="{FF2B5EF4-FFF2-40B4-BE49-F238E27FC236}">
                <a16:creationId xmlns:a16="http://schemas.microsoft.com/office/drawing/2014/main" id="{8B0CCC21-0462-AB50-7852-A99E59DD8968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300" b="0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oppins SemiBold"/>
                <a:ea typeface="Poppins SemiBold"/>
                <a:cs typeface="Poppins SemiBold"/>
                <a:sym typeface="Poppins SemiBold"/>
              </a:rPr>
              <a:t>DEMO 2: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7" name="Google Shape;287;p28">
            <a:extLst>
              <a:ext uri="{FF2B5EF4-FFF2-40B4-BE49-F238E27FC236}">
                <a16:creationId xmlns:a16="http://schemas.microsoft.com/office/drawing/2014/main" id="{F1A47DB4-394E-F852-D70C-19F062EE3455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ECC360-3CCA-84DE-1950-2BE478E962EE}"/>
              </a:ext>
            </a:extLst>
          </p:cNvPr>
          <p:cNvSpPr/>
          <p:nvPr/>
        </p:nvSpPr>
        <p:spPr>
          <a:xfrm>
            <a:off x="531668" y="1544782"/>
            <a:ext cx="11128664" cy="47417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78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B29739-8EC7-E24C-C352-75748D770B65}"/>
              </a:ext>
            </a:extLst>
          </p:cNvPr>
          <p:cNvSpPr txBox="1"/>
          <p:nvPr/>
        </p:nvSpPr>
        <p:spPr>
          <a:xfrm>
            <a:off x="731173" y="540570"/>
            <a:ext cx="906023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solidFill>
                  <a:srgbClr val="38BDF8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Caffeine vs Redis</a:t>
            </a:r>
            <a:endParaRPr lang="en-US" sz="33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C75F282-3496-8971-AA00-469CAE950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61292" y="1450802"/>
            <a:ext cx="1828798" cy="182879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AC7EB4E-049E-7F6F-0243-488466B20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2743" b="73389" l="18058" r="45051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4684" t="27662" r="51575" b="21530"/>
          <a:stretch>
            <a:fillRect/>
          </a:stretch>
        </p:blipFill>
        <p:spPr>
          <a:xfrm>
            <a:off x="8439005" y="2009505"/>
            <a:ext cx="1828799" cy="1815233"/>
          </a:xfrm>
          <a:prstGeom prst="rect">
            <a:avLst/>
          </a:prstGeom>
        </p:spPr>
      </p:pic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id="{1574D668-CC97-555C-46D4-A53C9C8EB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079347"/>
              </p:ext>
            </p:extLst>
          </p:nvPr>
        </p:nvGraphicFramePr>
        <p:xfrm>
          <a:off x="1151726" y="3726630"/>
          <a:ext cx="10047930" cy="2590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49310">
                  <a:extLst>
                    <a:ext uri="{9D8B030D-6E8A-4147-A177-3AD203B41FA5}">
                      <a16:colId xmlns:a16="http://schemas.microsoft.com/office/drawing/2014/main" val="1973378321"/>
                    </a:ext>
                  </a:extLst>
                </a:gridCol>
                <a:gridCol w="3349310">
                  <a:extLst>
                    <a:ext uri="{9D8B030D-6E8A-4147-A177-3AD203B41FA5}">
                      <a16:colId xmlns:a16="http://schemas.microsoft.com/office/drawing/2014/main" val="3343836378"/>
                    </a:ext>
                  </a:extLst>
                </a:gridCol>
                <a:gridCol w="3349310">
                  <a:extLst>
                    <a:ext uri="{9D8B030D-6E8A-4147-A177-3AD203B41FA5}">
                      <a16:colId xmlns:a16="http://schemas.microsoft.com/office/drawing/2014/main" val="231603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Microseconds (no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Milliseconds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890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Data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Single JVM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Across all servers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059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None (in‑memory)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Yes (RDB/AOF)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5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Strong (within one node)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Eventual / configurable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2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High‑throughput local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Shared session store, rate limiting, cross‑node coordination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079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03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38BDF8"/>
                </a:solidFill>
                <a:latin typeface="Poppins SemiBold"/>
                <a:cs typeface="Poppins SemiBold"/>
                <a:sym typeface="Poppins SemiBold"/>
              </a:rPr>
              <a:t>Summary: Choosing the Right Caching Strategy</a:t>
            </a:r>
            <a:endParaRPr dirty="0"/>
          </a:p>
        </p:txBody>
      </p:sp>
      <p:sp>
        <p:nvSpPr>
          <p:cNvPr id="311" name="Google Shape;311;p2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2227BBB-0039-6E1A-3EF7-66556DFBF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159403"/>
              </p:ext>
            </p:extLst>
          </p:nvPr>
        </p:nvGraphicFramePr>
        <p:xfrm>
          <a:off x="1256621" y="1511469"/>
          <a:ext cx="9678758" cy="441178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39379">
                  <a:extLst>
                    <a:ext uri="{9D8B030D-6E8A-4147-A177-3AD203B41FA5}">
                      <a16:colId xmlns:a16="http://schemas.microsoft.com/office/drawing/2014/main" val="4271011711"/>
                    </a:ext>
                  </a:extLst>
                </a:gridCol>
                <a:gridCol w="4839379">
                  <a:extLst>
                    <a:ext uri="{9D8B030D-6E8A-4147-A177-3AD203B41FA5}">
                      <a16:colId xmlns:a16="http://schemas.microsoft.com/office/drawing/2014/main" val="3405232629"/>
                    </a:ext>
                  </a:extLst>
                </a:gridCol>
              </a:tblGrid>
              <a:tr h="6039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2000" dirty="0">
                        <a:solidFill>
                          <a:schemeClr val="bg1"/>
                        </a:solidFill>
                        <a:latin typeface="Le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STRATEGY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162669"/>
                  </a:ext>
                </a:extLst>
              </a:tr>
              <a:tr h="734745"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Learning / tiny internal cache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LinkedHashMap</a:t>
                      </a: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 with LRU (manual)</a:t>
                      </a:r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489542"/>
                  </a:ext>
                </a:extLst>
              </a:tr>
              <a:tr h="868901"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Production local cache (single JVM, high concurrency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Caffeine</a:t>
                      </a:r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5419847"/>
                  </a:ext>
                </a:extLst>
              </a:tr>
              <a:tr h="734745"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Need disk persistence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Ehcache</a:t>
                      </a:r>
                      <a:endParaRPr lang="en-US" sz="2000" b="0" i="0" u="none" strike="noStrike" cap="none" dirty="0">
                        <a:solidFill>
                          <a:schemeClr val="bg1">
                            <a:lumMod val="85000"/>
                          </a:schemeClr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6620327"/>
                  </a:ext>
                </a:extLst>
              </a:tr>
              <a:tr h="734745"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Share cache across multiple servers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Redis (or </a:t>
                      </a:r>
                      <a:r>
                        <a:rPr lang="en-US" sz="2000" b="0" i="0" u="none" strike="noStrike" cap="none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Hazelcast</a:t>
                      </a: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)</a:t>
                      </a:r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3009767"/>
                  </a:ext>
                </a:extLst>
              </a:tr>
              <a:tr h="734745"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Spring Boot convenience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@Cacheable + Caffeine backend</a:t>
                      </a:r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50648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/>
        </p:nvSpPr>
        <p:spPr>
          <a:xfrm>
            <a:off x="3075622" y="2200275"/>
            <a:ext cx="604075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3219450" y="3514382"/>
            <a:ext cx="5753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/>
          <p:nvPr/>
        </p:nvSpPr>
        <p:spPr>
          <a:xfrm>
            <a:off x="571500" y="16859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571500" y="24574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571500" y="32289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571500" y="40005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571500" y="47720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571500" y="3219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571500" y="3219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571500" y="3990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571500" y="3990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571500" y="4762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571500" y="4762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71500" y="5705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571500" y="5705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8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/>
        </p:nvSpPr>
        <p:spPr>
          <a:xfrm>
            <a:off x="1666875" y="18359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https://miro.medium.com/v2/resize:fit:1400/1*_tZhIBbU3uMguaNyH9kBtg.png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1666875" y="20693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343" name="Google Shape;34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00325"/>
            <a:ext cx="10382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1666875" y="26074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https://miro.medium.com/1*9V4i7s4ZxFHMxylZdd6KQg.png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1666875" y="28408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346" name="Google Shape;34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1850"/>
            <a:ext cx="10382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1666875" y="33789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https://miro.medium.com/v2/resize:fit:600/1*zyaAeuPt40T2NTcJYZ4JvA.png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1666875" y="36123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349" name="Google Shape;34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433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 txBox="1"/>
          <p:nvPr/>
        </p:nvSpPr>
        <p:spPr>
          <a:xfrm>
            <a:off x="1666875" y="41505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https://miro.medium.com/v2/resize:fit:1400/1*-ecZ7cQQ8qsPTkr0s1cbVA.png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1666875" y="43838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miladezzat.medium.com</a:t>
            </a:r>
            <a:endParaRPr/>
          </a:p>
        </p:txBody>
      </p:sp>
      <p:pic>
        <p:nvPicPr>
          <p:cNvPr id="352" name="Google Shape;352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00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/>
        </p:nvSpPr>
        <p:spPr>
          <a:xfrm>
            <a:off x="1666875" y="49149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https://lh3.googleusercontent.com/3XvW7TdxE6c5CNBYvfhOm4968exmDoDpgSR-FiG5uDvBM5bcxJ7aObCe6BUXH9OganwLZlt8XU5h3m9Lfj3Q_hddROmUgk9ko1FxVYcqbSJplAHewZCcg5fUAIPxozyJaJWx1Io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1666875" y="53340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www.javamadesoeasy.com</a:t>
            </a:r>
            <a:endParaRPr/>
          </a:p>
        </p:txBody>
      </p:sp>
      <p:pic>
        <p:nvPicPr>
          <p:cNvPr id="355" name="Google Shape;355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857875"/>
            <a:ext cx="90487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 txBox="1"/>
          <p:nvPr/>
        </p:nvSpPr>
        <p:spPr>
          <a:xfrm>
            <a:off x="1666875" y="58650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https://raw.githubusercontent.com/ben-manes/caffeine/master/wiki/throughput/read.png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1666875" y="60983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github.com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866</Words>
  <Application>Microsoft Office PowerPoint</Application>
  <PresentationFormat>Широкоэкранный</PresentationFormat>
  <Paragraphs>133</Paragraphs>
  <Slides>20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Lato</vt:lpstr>
      <vt:lpstr>Wingdings</vt:lpstr>
      <vt:lpstr>Arial</vt:lpstr>
      <vt:lpstr>Poppins SemiBold</vt:lpstr>
      <vt:lpstr>Poppins</vt:lpstr>
      <vt:lpstr>Lato Light</vt:lpstr>
      <vt:lpstr>Leto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Limitations of Manual LRU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wcadmin</dc:creator>
  <cp:lastModifiedBy>Sergei Chernoshchekov</cp:lastModifiedBy>
  <cp:revision>7</cp:revision>
  <dcterms:modified xsi:type="dcterms:W3CDTF">2026-05-21T08:43:13Z</dcterms:modified>
</cp:coreProperties>
</file>